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597ee23b1496a" /><Relationship Type="http://schemas.openxmlformats.org/officeDocument/2006/relationships/extended-properties" Target="/docProps/app.xml" Id="R420bf89f72144a68" /><Relationship Type="http://schemas.openxmlformats.org/officeDocument/2006/relationships/officeDocument" Target="/ppt/presentation.xml" Id="R9f5bbb76c3d441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5bf184c4b1475a"/>
  </p:sldMasterIdLst>
  <p:notesMasterIdLst>
    <p:notesMasterId xmlns:r="http://schemas.openxmlformats.org/officeDocument/2006/relationships" r:id="Rba44ee16bb254286"/>
  </p:notesMasterIdLst>
  <p:sldIdLst>
    <p:sldId xmlns:r="http://schemas.openxmlformats.org/officeDocument/2006/relationships" id="256" r:id="Rf14535911c144bb0"/>
    <p:sldId xmlns:r="http://schemas.openxmlformats.org/officeDocument/2006/relationships" id="257" r:id="R5c7fb56d20774c4f"/>
    <p:sldId xmlns:r="http://schemas.openxmlformats.org/officeDocument/2006/relationships" id="258" r:id="R857dde20baf14aeb"/>
    <p:sldId xmlns:r="http://schemas.openxmlformats.org/officeDocument/2006/relationships" id="259" r:id="Rf7ebcdd7b4de4efc"/>
    <p:sldId xmlns:r="http://schemas.openxmlformats.org/officeDocument/2006/relationships" id="260" r:id="R76b3ff7867344dbb"/>
    <p:sldId xmlns:r="http://schemas.openxmlformats.org/officeDocument/2006/relationships" id="261" r:id="R35a626e3a73f49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bf184c4b1475a" /><Relationship Type="http://schemas.openxmlformats.org/officeDocument/2006/relationships/theme" Target="/ppt/theme/theme1.xml" Id="Rb2cf84efefe14511" /><Relationship Type="http://schemas.openxmlformats.org/officeDocument/2006/relationships/notesMaster" Target="/ppt/notesMasters/notesMaster1.xml" Id="Rba44ee16bb254286" /><Relationship Type="http://schemas.openxmlformats.org/officeDocument/2006/relationships/presProps" Target="/ppt/presProps.xml" Id="Rd552c6f8099f4e80" /><Relationship Type="http://schemas.openxmlformats.org/officeDocument/2006/relationships/viewProps" Target="/ppt/viewProps.xml" Id="R89ddf37003f0488e" /><Relationship Type="http://schemas.openxmlformats.org/officeDocument/2006/relationships/tableStyles" Target="/ppt/tableStyles.xml" Id="Rb59035d68d964396" /><Relationship Type="http://schemas.openxmlformats.org/officeDocument/2006/relationships/slide" Target="/ppt/slides/slide1.xml" Id="Rf14535911c144bb0" /><Relationship Type="http://schemas.openxmlformats.org/officeDocument/2006/relationships/slide" Target="/ppt/slides/slide2.xml" Id="R5c7fb56d20774c4f" /><Relationship Type="http://schemas.openxmlformats.org/officeDocument/2006/relationships/slide" Target="/ppt/slides/slide3.xml" Id="R857dde20baf14aeb" /><Relationship Type="http://schemas.openxmlformats.org/officeDocument/2006/relationships/slide" Target="/ppt/slides/slide4.xml" Id="Rf7ebcdd7b4de4efc" /><Relationship Type="http://schemas.openxmlformats.org/officeDocument/2006/relationships/slide" Target="/ppt/slides/slide5.xml" Id="R76b3ff7867344dbb" /><Relationship Type="http://schemas.openxmlformats.org/officeDocument/2006/relationships/slide" Target="/ppt/slides/slide6.xml" Id="R35a626e3a73f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e15e4cdcf4e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8798282ec49b8" /><Relationship Type="http://schemas.openxmlformats.org/officeDocument/2006/relationships/notesMaster" Target="/ppt/notesMasters/notesMaster1.xml" Id="R43bfb0b6b76f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f6da0400d4d85" /><Relationship Type="http://schemas.openxmlformats.org/officeDocument/2006/relationships/notesMaster" Target="/ppt/notesMasters/notesMaster1.xml" Id="R511b11c98df6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579ad7bf54d94" /><Relationship Type="http://schemas.openxmlformats.org/officeDocument/2006/relationships/notesMaster" Target="/ppt/notesMasters/notesMaster1.xml" Id="R8c91760493e0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9072619a64aff" /><Relationship Type="http://schemas.openxmlformats.org/officeDocument/2006/relationships/notesMaster" Target="/ppt/notesMasters/notesMaster1.xml" Id="Rcaa61aa89ef4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3cb122ec5f4ba1" /><Relationship Type="http://schemas.openxmlformats.org/officeDocument/2006/relationships/notesMaster" Target="/ppt/notesMasters/notesMaster1.xml" Id="R6e3c1f7c54eb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3f4675c9f453d" /><Relationship Type="http://schemas.openxmlformats.org/officeDocument/2006/relationships/notesMaster" Target="/ppt/notesMasters/notesMaster1.xml" Id="Re86820dde71c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6e7fd202e40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646b4792c746d0" /><Relationship Type="http://schemas.openxmlformats.org/officeDocument/2006/relationships/slideLayout" Target="/ppt/slideLayouts/slideLayout2.xml" Id="R1ceab0782d73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eab0782d73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0d4279e1d4a6d" /><Relationship Type="http://schemas.openxmlformats.org/officeDocument/2006/relationships/image" Target="/ppt/media/image.png" Id="R7edc02e6294642cb" /><Relationship Type="http://schemas.openxmlformats.org/officeDocument/2006/relationships/notesSlide" Target="/ppt/notesSlides/notesSlide1.xml" Id="Rd01699851836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99c8ed54f2474b" /><Relationship Type="http://schemas.openxmlformats.org/officeDocument/2006/relationships/image" Target="/ppt/media/image2.png" Id="Rcfb6d0c86c8b4372" /><Relationship Type="http://schemas.openxmlformats.org/officeDocument/2006/relationships/notesSlide" Target="/ppt/notesSlides/notesSlide2.xml" Id="R8b051e8df453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e0cba443d4476" /><Relationship Type="http://schemas.openxmlformats.org/officeDocument/2006/relationships/notesSlide" Target="/ppt/notesSlides/notesSlide3.xml" Id="R0a42a97e901f4e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3ff7cba2af41ea" /><Relationship Type="http://schemas.openxmlformats.org/officeDocument/2006/relationships/image" Target="/ppt/media/image3.png" Id="Rd798930cd3664a29" /><Relationship Type="http://schemas.openxmlformats.org/officeDocument/2006/relationships/image" Target="/ppt/media/image4.png" Id="Re0b997c153854384" /><Relationship Type="http://schemas.openxmlformats.org/officeDocument/2006/relationships/image" Target="/ppt/media/image5.png" Id="R63fa87988ada492e" /><Relationship Type="http://schemas.openxmlformats.org/officeDocument/2006/relationships/image" Target="/ppt/media/image6.png" Id="R3e6a4d35a1a44176" /><Relationship Type="http://schemas.openxmlformats.org/officeDocument/2006/relationships/notesSlide" Target="/ppt/notesSlides/notesSlide4.xml" Id="Rc1450e0fde534b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d967be74f4d4c" /><Relationship Type="http://schemas.openxmlformats.org/officeDocument/2006/relationships/image" Target="/ppt/media/image7.png" Id="R549896ca37ad4334" /><Relationship Type="http://schemas.openxmlformats.org/officeDocument/2006/relationships/notesSlide" Target="/ppt/notesSlides/notesSlide5.xml" Id="R24c9f463db9f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9c3b87f8e4102" /><Relationship Type="http://schemas.openxmlformats.org/officeDocument/2006/relationships/notesSlide" Target="/ppt/notesSlides/notesSlide6.xml" Id="Rc09dcf94caca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7AED1-9A70-4C54-AE6A-7C325B05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80C00-5FF5-487B-9921-1FAF8E6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70DFF-AD7A-4DED-A381-87B528D0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POSTER-INSPIRED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D780-AD9F-4E18-8BD2-1DC81EF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richer prompt generates a better CAD Agent Factory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75F11-8156-424F-A496-305570D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71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D7E8"/>
                </a:solidFill>
                <a:latin typeface="Aptos"/>
                <a:ea typeface="Aptos"/>
                <a:cs typeface="Aptos"/>
              </a:rPr>
              <a:t>Instead of asking for only five coarse parts, the new run asks for eyes, pupils, smile, display layers, claws, wheels, and hubs.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A90B9-5ECA-4BFE-AD16-13E38773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1CFA0-FA14-4ED7-9297-0F683F4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135A9-66F2-4DC2-9AF5-47596EA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CAD Agent workers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8EB7F-EAE0-487D-8384-51FE9A84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6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E1F91-BF4D-4CA5-A43E-6CAD095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720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0D698-19FF-41AD-BD44-E06BEA17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62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source primitives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19CF7-5F59-4B3B-A00F-6484E947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006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731CD-E3E1-4629-92F3-F504575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720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81653-15AC-408C-8E55-CF745375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62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old Kernels cleaned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79B51-4155-4E95-B42F-B3F19403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62050"/>
            <a:ext cx="46101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c02e6294642cb"/>
          <a:srcRect xmlns:a="http://schemas.openxmlformats.org/drawingml/2006/main" l="17628" t="0" r="176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352550"/>
            <a:ext cx="4229100" cy="3638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34040-7F92-495A-8C20-01945CC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14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Fresh website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426BB-E604-4BA5-AF7E-023560D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626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Final model assembled from imported worker manifests.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3C97F-A638-459D-BA54-0F5B6FC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DF4CE-F217-43F5-8E94-DA0BA338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55964-DA06-4B46-A232-2098B3B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91709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CE81E-95A6-47B2-A0AE-AAFF9C4F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2DAD3-8D10-49CA-86E6-D5D5F1A4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A8DCF-95D5-48ED-8C64-E5E1EE0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PROMPT UPGRADE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54D7-B561-40D4-B098-3E0EB6D4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prompt now names the visual details the CAD workers must build.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DB218-9DF2-494F-BC44-195FCB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5395D-4462-4EE3-8DBB-C0ED0A5F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Judge-facing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FBF8-5168-4CE7-8F0B-88F5912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CE8F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CE8F6"/>
                </a:solidFill>
                <a:latin typeface="Aptos"/>
                <a:ea typeface="Aptos"/>
                <a:cs typeface="Aptos"/>
              </a:rPr>
              <a:t>Build a polished poster-style toy robot with a purple rounded square head, large silver circular eyes, black eye pupils, a small black smile, a green rounded body, a yellow chest screen frame, a black inner chest display, orange segmented cylinder arms, silver claw hands, blue wheel feet, and dark wheel hubs.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9640B-8779-4CEF-8033-2C06FC0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Why it works: each comma-separated visual detail becomes a specialist CAD Agent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CD771-EF5D-4831-89A9-7132988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6d0c86c8b4372"/>
          <a:srcRect xmlns:a="http://schemas.openxmlformats.org/drawingml/2006/main" l="0" t="1087" r="0" b="1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76450"/>
            <a:ext cx="43815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A6485-3424-4110-ACCE-ED616C16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Target style from the generated poster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14193-33F7-45A9-8BE8-CB87483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42124-98F6-4553-90E8-E150FCE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CCAF6-3509-4022-89BA-BB281A66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57862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951957-008F-486F-8ACC-B3311B7B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6522A-3322-482D-BA4C-1138626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130A-7593-40D5-B31B-1C3FB32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FRESH PROJECT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877B-723E-4F4C-AA4F-F255C65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Fresh project now cleans old CAD Kernels before creating the new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7264D-D1A6-4C4C-A014-9C08336A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EB9ED-C4F0-48F0-8B08-325286E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Cleanup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9CFE-59A8-46B4-954F-24F8F6E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765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8765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49E1E-904C-453E-94D8-E74011F8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old CAD Agent Kernel browsers deleted before this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E70B1-A3F0-44A1-B31F-10862FEC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619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C328-3805-4D7E-A71C-046B386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Run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3B7ED-62D9-4AD0-9347-898A830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6C99F-FEE6-45AE-B94A-A48D3986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9082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8765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765FF"/>
                </a:solidFill>
                <a:latin typeface="Aptos"/>
                <a:ea typeface="Aptos"/>
                <a:cs typeface="Aptos"/>
              </a:rPr>
              <a:t>monitor-20260509150656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EF687-0D69-4382-9A58-8034AE02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F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8F6"/>
                </a:solidFill>
                <a:latin typeface="Aptos"/>
                <a:ea typeface="Aptos"/>
                <a:cs typeface="Aptos"/>
              </a:rPr>
              <a:t>This matters for the demo: the final robot is not old state from a previous Kernel.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BD435-3388-4269-90FA-7F913D1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Generated CAD Agent 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40DA7-E73B-4DB9-B2A1-5911F49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7BA4F-C86F-4547-802E-FE11B3A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842B9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42B9"/>
                </a:solidFill>
                <a:latin typeface="Aptos"/>
                <a:ea typeface="Aptos"/>
                <a:cs typeface="Aptos"/>
              </a:rPr>
              <a:t>rounded square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43251-202D-4227-BE9A-100A682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625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B115B-E1D1-4F63-9015-3C3DBB6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29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8B3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8B3BD"/>
                </a:solidFill>
                <a:latin typeface="Aptos"/>
                <a:ea typeface="Aptos"/>
                <a:cs typeface="Aptos"/>
              </a:rPr>
              <a:t>circular eyes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26F49-A096-496E-A67A-77BF50D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70BC8-FCF2-417C-A65B-DC2A19A4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29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8233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330"/>
                </a:solidFill>
                <a:latin typeface="Aptos"/>
                <a:ea typeface="Aptos"/>
                <a:cs typeface="Aptos"/>
              </a:rPr>
              <a:t>eye pupils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14E99-8F87-4EEB-8C85-3A1DACD2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05936-9473-4947-B4E0-E0E94248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29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8233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330"/>
                </a:solidFill>
                <a:latin typeface="Aptos"/>
                <a:ea typeface="Aptos"/>
                <a:cs typeface="Aptos"/>
              </a:rPr>
              <a:t>smile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2511C-0D45-402E-BB46-6A4A45A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89A91-F0D3-4190-9EB3-EFB1140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9E59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9E59"/>
                </a:solidFill>
                <a:latin typeface="Aptos"/>
                <a:ea typeface="Aptos"/>
                <a:cs typeface="Aptos"/>
              </a:rPr>
              <a:t>rounded body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70A7E-9F16-47B1-9FBA-9D96280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6255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8EAED-CCC5-4E19-ACF2-A7F730C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29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B3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7B32B"/>
                </a:solidFill>
                <a:latin typeface="Aptos"/>
                <a:ea typeface="Aptos"/>
                <a:cs typeface="Aptos"/>
              </a:rPr>
              <a:t>chest screen frame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2A0D3-9A43-45CC-BA50-BB20CC9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6255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7DDCA-53BF-47C3-BBF1-F47BF0B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29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8233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330"/>
                </a:solidFill>
                <a:latin typeface="Aptos"/>
                <a:ea typeface="Aptos"/>
                <a:cs typeface="Aptos"/>
              </a:rPr>
              <a:t>inner chest display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7EFAD-6530-427E-BB07-09BEFB2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BA20F-203E-4DD7-96FA-DC7004E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29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D7A2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7A22"/>
                </a:solidFill>
                <a:latin typeface="Aptos"/>
                <a:ea typeface="Aptos"/>
                <a:cs typeface="Aptos"/>
              </a:rPr>
              <a:t>segmented cylinder arms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E6158-5C0D-44EB-B10C-0FB2AED6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2E577-6203-4ACB-88C4-6DE6EB8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8B3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8B3BD"/>
                </a:solidFill>
                <a:latin typeface="Aptos"/>
                <a:ea typeface="Aptos"/>
                <a:cs typeface="Aptos"/>
              </a:rPr>
              <a:t>claw hands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51DFF-9DB1-4CB3-A641-182DAD3E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626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C988F-F49E-48AE-915A-8E6284B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292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64C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64C0"/>
                </a:solidFill>
                <a:latin typeface="Aptos"/>
                <a:ea typeface="Aptos"/>
                <a:cs typeface="Aptos"/>
              </a:rPr>
              <a:t>wheel feet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6079E6-5379-4907-AC00-8EE9A64B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62600"/>
            <a:ext cx="2171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337"/>
          </a:solidFill>
          <a:ln xmlns:a="http://schemas.openxmlformats.org/drawingml/2006/main" w="9525">
            <a:solidFill>
              <a:srgbClr val="2A40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4C76B1-8A97-4A17-BEE7-4BED102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292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8233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330"/>
                </a:solidFill>
                <a:latin typeface="Aptos"/>
                <a:ea typeface="Aptos"/>
                <a:cs typeface="Aptos"/>
              </a:rPr>
              <a:t>wheel hubs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3317A1-D82A-4410-B4CE-0E39A95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322073-D3E6-40C5-9393-6A4AE8A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DC673-1645-4DCF-BBEE-3A68CB86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0729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09038-2F0A-4273-ACC2-42546006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BC3B-031D-4FCD-96F9-D3E4E2B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A6833-C18A-4135-8E70-CDA8B1E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WORKER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BDF03-A2DE-4031-8154-3090D09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CAD Agent workers now build small visual details, not just big blocks.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C2C7B-67F5-49AE-81E2-A5EFC75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8930cd3664a29"/>
          <a:srcRect xmlns:a="http://schemas.openxmlformats.org/drawingml/2006/main" l="20557" t="0" r="20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76450"/>
            <a:ext cx="21145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9652C-2232-4721-97A2-06A4D71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large silver eyes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1E84-73FA-4736-8661-4B563F18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997c153854384"/>
          <a:srcRect xmlns:a="http://schemas.openxmlformats.org/drawingml/2006/main" l="20557" t="0" r="20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2350" y="2076450"/>
            <a:ext cx="2114550" cy="2000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F129F-A062-415D-8D67-2204C40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black pupils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743CC-52BC-4A41-BEBE-76F1EBE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a87988ada492e"/>
          <a:srcRect xmlns:a="http://schemas.openxmlformats.org/drawingml/2006/main" l="20557" t="0" r="20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76450"/>
            <a:ext cx="2114550" cy="200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BECA5-7018-4FF9-94C6-24D47AA2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inner chest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1006B-B2A6-4D3C-9DD6-51EF06F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a4d35a1a44176"/>
          <a:srcRect xmlns:a="http://schemas.openxmlformats.org/drawingml/2006/main" l="20557" t="0" r="20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076450"/>
            <a:ext cx="2114550" cy="2000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AC259-F096-410F-B300-7C642E1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8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silver claw hands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C5923-85BB-4F2E-869C-3EF30A9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This is the key demo improvement: the same CAD Agent template can be copied into detail workers when the main agent writes better prompts.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D96D5-AD2E-47FF-B841-BB10A9C4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43869-6787-44AC-9628-F5171A6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A16B3-E634-4ECE-B91F-945F569E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38170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C9D30-0ED4-4B15-907C-93E3CD8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3B377-232C-4499-B291-76157A96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A9E2C-4507-4E36-91AE-B4436821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ASSEMBLY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7E5DE-CCF4-49BA-8D21-7B318EC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Assembly imports 11 worker manifests into one robot.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0D21D-B913-45E3-A48C-9949FB06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1628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2B3A4D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896ca37ad4334"/>
          <a:srcRect xmlns:a="http://schemas.openxmlformats.org/drawingml/2006/main" l="424" t="0" r="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924050"/>
            <a:ext cx="67818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FEE5F-553A-48BA-9188-7B200682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6C7F3-EB95-44EC-B306-668843F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80380-398A-42AF-86F4-737E649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imported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CEE7A-FF8A-4410-8639-C67DDE5B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6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345A8-2803-4E3E-BEE1-6B737D7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9087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B1C43-7082-4AFD-90C6-A693B36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source primitives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98F9C-6D54-4D0D-8CDD-48586D2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23008-3B76-4E72-B550-E7CAB3FE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386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346D-DED4-4C78-ACD1-D1FFC9E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Kernel computers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27713-C734-4D30-8BC2-D5B3789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34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9D7E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9D7E8"/>
                </a:solidFill>
                <a:latin typeface="Aptos"/>
                <a:ea typeface="Aptos"/>
                <a:cs typeface="Aptos"/>
              </a:rPr>
              <a:t>The final object is assembled from structured worker outputs, not from a fixed one-off drawing.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9A680-E72C-49A2-BF25-EBAB1B9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4291D-B74B-4579-927A-A3E8FE1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0B75D-1784-480A-B34C-CDDBB154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159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59641-D7FF-4264-9B93-28256312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9CB4-B7CC-4811-9717-781CA51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DB315-DC14-489B-B97A-6B4EB2D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DEMO TALK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8DA8C-6BC0-428C-AF49-7578B704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What changed: better prompt, better planner, clean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12BAA-6EFE-43E0-9D6D-99AB7A4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A3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DA3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8BC85-3A02-443D-A06D-02DCA10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1EE1E-1AD2-45AA-BCA7-D94838B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05000"/>
            <a:ext cx="723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6CEB6-8E7D-449C-B9B3-13F3C24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Prompt quality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8D9B7-8A23-4646-945C-F83AB20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The poster robot needs explicit visual details: eyes, pupils, smile, screen layers, claws, hubs.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F48A-96B9-43D5-BC1A-7FB2DC4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C77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2C77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824A0-1B1E-4B14-AAFB-6299286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84F29-0A53-4E1A-A83F-005EFB1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723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00FA1-55D5-4A9E-BE31-1DD5E6AB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Factory scales 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76F35-A40A-42D2-A53C-B7971748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908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More details become more CAD Agent workers; the template stays the same.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B2DFF-EC12-48C7-BE4E-DC3A683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765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765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A4760-EEF9-420B-A2A3-8556151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71984-371E-4FE9-B0F3-CE1FC5A2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0000"/>
            <a:ext cx="723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EEFE1-4CAA-418A-BF15-995A03A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43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Fresh is real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1E0BE-D9A5-4A72-9470-9BD3047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Old CAD Kernel browsers are cleaned before new workers are created.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7BB11-EE40-40FF-8531-9AF51F55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B64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64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A1834-4980-4FD2-87C7-6B9D9A8B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6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A0AA2-B9F2-4184-AAB5-D991C39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62500"/>
            <a:ext cx="723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3147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EED0B-5C34-42AD-9C84-37C84F61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Assembly proves composition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FED15-7C60-4E2B-9180-3EB346D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958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The result imports manifests from workers instead of reusing a hardcoded scene.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83D97-92C0-486D-A9F2-D4A5AB6F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EB19E-F88C-4568-A55E-34395E7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4B8"/>
                </a:solidFill>
                <a:latin typeface="Aptos"/>
                <a:ea typeface="Aptos"/>
                <a:cs typeface="Aptos"/>
              </a:rPr>
              <a:t>Poster robot CAD demo run monitor-20260509150656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4A87E6-1C17-4D84-92C7-F91BE9A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112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2026-05-09T22:16:54.4420000Z</dcterms:created>
  <dcterms:modified xsi:type="dcterms:W3CDTF">2026-05-09T22:16:54.4420000Z</dcterms:modified>
</coreProperties>
</file>